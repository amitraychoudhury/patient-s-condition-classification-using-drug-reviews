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5400" b="1" dirty="0" smtClean="0"/>
              <a:t>Patient condition</a:t>
            </a:r>
            <a:r>
              <a:rPr lang="en-US" sz="5400" b="1" dirty="0" smtClean="0"/>
              <a:t> Classification </a:t>
            </a:r>
            <a:r>
              <a:rPr lang="en-US" sz="5400" b="1" dirty="0"/>
              <a:t>System Using Machine Learning and NLP</a:t>
            </a:r>
            <a:endParaRPr lang="en-IN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19"/>
            <a:ext cx="10058400" cy="1575903"/>
          </a:xfrm>
        </p:spPr>
        <p:txBody>
          <a:bodyPr>
            <a:normAutofit fontScale="55000" lnSpcReduction="20000"/>
          </a:bodyPr>
          <a:lstStyle/>
          <a:p>
            <a:pPr marL="342900" indent="-342900">
              <a:buFontTx/>
              <a:buChar char="-"/>
            </a:pPr>
            <a:r>
              <a:rPr lang="en-US" dirty="0" smtClean="0">
                <a:latin typeface="+mn-lt"/>
              </a:rPr>
              <a:t>Rahul Mhapankar</a:t>
            </a:r>
          </a:p>
          <a:p>
            <a:pPr marL="342900" indent="-342900">
              <a:buFontTx/>
              <a:buChar char="-"/>
            </a:pPr>
            <a:r>
              <a:rPr lang="en-US" dirty="0" smtClean="0">
                <a:latin typeface="+mn-lt"/>
              </a:rPr>
              <a:t>Harsh Kocharekar</a:t>
            </a:r>
          </a:p>
          <a:p>
            <a:pPr marL="342900" indent="-342900">
              <a:buFontTx/>
              <a:buChar char="-"/>
            </a:pPr>
            <a:r>
              <a:rPr lang="en-US" dirty="0">
                <a:latin typeface="+mn-lt"/>
              </a:rPr>
              <a:t>Bhattu Puneeth </a:t>
            </a:r>
            <a:r>
              <a:rPr lang="en-US" dirty="0" smtClean="0">
                <a:latin typeface="+mn-lt"/>
              </a:rPr>
              <a:t>Raju</a:t>
            </a:r>
          </a:p>
          <a:p>
            <a:pPr marL="342900" indent="-342900">
              <a:buFontTx/>
              <a:buChar char="-"/>
            </a:pPr>
            <a:r>
              <a:rPr lang="en-US" dirty="0">
                <a:latin typeface="+mn-lt"/>
              </a:rPr>
              <a:t>Gattineni </a:t>
            </a:r>
            <a:r>
              <a:rPr lang="en-US" dirty="0" smtClean="0">
                <a:latin typeface="+mn-lt"/>
              </a:rPr>
              <a:t>Neha</a:t>
            </a:r>
          </a:p>
          <a:p>
            <a:pPr marL="342900" indent="-342900">
              <a:buFontTx/>
              <a:buChar char="-"/>
            </a:pPr>
            <a:r>
              <a:rPr lang="en-US" dirty="0" smtClean="0">
                <a:latin typeface="+mn-lt"/>
              </a:rPr>
              <a:t>Amit chaudhari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8660422" y="5515698"/>
            <a:ext cx="2866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Group No – P642 - group -3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588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55879"/>
            <a:ext cx="10058400" cy="1450757"/>
          </a:xfrm>
        </p:spPr>
        <p:txBody>
          <a:bodyPr anchor="t">
            <a:normAutofit fontScale="90000"/>
          </a:bodyPr>
          <a:lstStyle/>
          <a:p>
            <a:r>
              <a:rPr lang="en-US" sz="4400" b="1" dirty="0"/>
              <a:t>Drug Prediction System Using Machine Learning and NLP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project develops a </a:t>
            </a:r>
            <a:r>
              <a:rPr lang="en-US" b="1" dirty="0"/>
              <a:t>machine learning based drug prediction system</a:t>
            </a:r>
            <a:r>
              <a:rPr lang="en-US" dirty="0"/>
              <a:t> that analyzes patient reviews and drug names to predict the medical condition being treated.</a:t>
            </a:r>
          </a:p>
          <a:p>
            <a:pPr algn="just"/>
            <a:r>
              <a:rPr lang="en-US" dirty="0"/>
              <a:t>The system uses </a:t>
            </a:r>
            <a:r>
              <a:rPr lang="en-US" b="1" dirty="0"/>
              <a:t>Natural Language Processing (NLP)</a:t>
            </a:r>
            <a:r>
              <a:rPr lang="en-US" dirty="0"/>
              <a:t> to process textual data and applies multiple machine learning algorithms to classify diseases.</a:t>
            </a:r>
          </a:p>
          <a:p>
            <a:pPr algn="just"/>
            <a:r>
              <a:rPr lang="en-US" dirty="0"/>
              <a:t>The goal of the project is to demonstrate how </a:t>
            </a:r>
            <a:r>
              <a:rPr lang="en-US" b="1" dirty="0"/>
              <a:t>AI can analyze medical reviews to support healthcare insights and decision making.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53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main objective of this project is to develop a </a:t>
            </a:r>
            <a:r>
              <a:rPr lang="en-US" b="1" dirty="0"/>
              <a:t>machine learning model that predicts medical conditions based on drug names and patient </a:t>
            </a:r>
            <a:r>
              <a:rPr lang="en-US" b="1" dirty="0" smtClean="0"/>
              <a:t>reviews:</a:t>
            </a:r>
          </a:p>
          <a:p>
            <a:r>
              <a:rPr lang="en-US" dirty="0"/>
              <a:t>The system aims to:</a:t>
            </a:r>
          </a:p>
          <a:p>
            <a:r>
              <a:rPr lang="en-US" dirty="0"/>
              <a:t>• Analyze patient drug reviews</a:t>
            </a:r>
            <a:br>
              <a:rPr lang="en-US" dirty="0"/>
            </a:br>
            <a:r>
              <a:rPr lang="en-US" dirty="0"/>
              <a:t>• Clean and process medical text data using NLP</a:t>
            </a:r>
            <a:br>
              <a:rPr lang="en-US" dirty="0"/>
            </a:br>
            <a:r>
              <a:rPr lang="en-US" dirty="0"/>
              <a:t>• Extract meaningful features from text</a:t>
            </a:r>
            <a:br>
              <a:rPr lang="en-US" dirty="0"/>
            </a:br>
            <a:r>
              <a:rPr lang="en-US" dirty="0"/>
              <a:t>• Train machine learning models for prediction</a:t>
            </a:r>
            <a:br>
              <a:rPr lang="en-US" dirty="0"/>
            </a:br>
            <a:r>
              <a:rPr lang="en-US" dirty="0"/>
              <a:t>• Compare different algorithms</a:t>
            </a:r>
            <a:br>
              <a:rPr lang="en-US" dirty="0"/>
            </a:br>
            <a:r>
              <a:rPr lang="en-US" dirty="0"/>
              <a:t>• Select the best performing model</a:t>
            </a:r>
          </a:p>
          <a:p>
            <a:r>
              <a:rPr lang="en-US" dirty="0"/>
              <a:t>The project demonstrates how </a:t>
            </a:r>
            <a:r>
              <a:rPr lang="en-US" b="1" dirty="0"/>
              <a:t>machine learning can assist in healthcare analytics using real patient review data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729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DATASET DETAILS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Dataset Used: </a:t>
            </a:r>
            <a:r>
              <a:rPr lang="en-US" b="1" dirty="0" err="1"/>
              <a:t>drugsCom</a:t>
            </a:r>
            <a:r>
              <a:rPr lang="en-US" b="1" dirty="0"/>
              <a:t> Dataset</a:t>
            </a:r>
            <a:endParaRPr lang="en-US" dirty="0"/>
          </a:p>
          <a:p>
            <a:r>
              <a:rPr lang="en-US" dirty="0"/>
              <a:t>The dataset was obtained in </a:t>
            </a:r>
            <a:r>
              <a:rPr lang="en-US" b="1" dirty="0"/>
              <a:t>Excel (.</a:t>
            </a:r>
            <a:r>
              <a:rPr lang="en-US" b="1" dirty="0" err="1"/>
              <a:t>xlsx</a:t>
            </a:r>
            <a:r>
              <a:rPr lang="en-US" b="1" dirty="0"/>
              <a:t>) format</a:t>
            </a:r>
            <a:r>
              <a:rPr lang="en-US" dirty="0"/>
              <a:t> and contains drug reviews from patients.</a:t>
            </a:r>
          </a:p>
          <a:p>
            <a:r>
              <a:rPr lang="en-US" b="1" dirty="0"/>
              <a:t>Original Dataset Columns</a:t>
            </a:r>
            <a:endParaRPr lang="en-US" dirty="0"/>
          </a:p>
          <a:p>
            <a:r>
              <a:rPr lang="en-US" dirty="0"/>
              <a:t>• </a:t>
            </a:r>
            <a:r>
              <a:rPr lang="en-US" dirty="0" err="1"/>
              <a:t>drugName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condition</a:t>
            </a:r>
            <a:br>
              <a:rPr lang="en-US" dirty="0"/>
            </a:br>
            <a:r>
              <a:rPr lang="en-US" dirty="0"/>
              <a:t>• review</a:t>
            </a:r>
            <a:br>
              <a:rPr lang="en-US" dirty="0"/>
            </a:br>
            <a:r>
              <a:rPr lang="en-US" dirty="0"/>
              <a:t>• rating</a:t>
            </a:r>
            <a:br>
              <a:rPr lang="en-US" dirty="0"/>
            </a:br>
            <a:r>
              <a:rPr lang="en-US" dirty="0"/>
              <a:t>• date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usefulCount</a:t>
            </a:r>
            <a:endParaRPr lang="en-US" dirty="0"/>
          </a:p>
          <a:p>
            <a:r>
              <a:rPr lang="en-US" dirty="0"/>
              <a:t>For this project, the following important columns were used:</a:t>
            </a:r>
          </a:p>
          <a:p>
            <a:r>
              <a:rPr lang="en-US" dirty="0"/>
              <a:t>• </a:t>
            </a:r>
            <a:r>
              <a:rPr lang="en-US" b="1" dirty="0" err="1"/>
              <a:t>drugName</a:t>
            </a:r>
            <a:r>
              <a:rPr lang="en-US" dirty="0"/>
              <a:t> – Name of the medicine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condition</a:t>
            </a:r>
            <a:r>
              <a:rPr lang="en-US" dirty="0"/>
              <a:t> – Disease being treated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review</a:t>
            </a:r>
            <a:r>
              <a:rPr lang="en-US" dirty="0"/>
              <a:t> – Patient review text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870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Filtered Medical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simplify the prediction task, the dataset was filtered to include only </a:t>
            </a:r>
            <a:r>
              <a:rPr lang="en-US" b="1" dirty="0"/>
              <a:t>three conditions</a:t>
            </a:r>
            <a:r>
              <a:rPr lang="en-US" dirty="0"/>
              <a:t>:</a:t>
            </a:r>
          </a:p>
          <a:p>
            <a:r>
              <a:rPr lang="en-US" dirty="0"/>
              <a:t>• Depression</a:t>
            </a:r>
            <a:br>
              <a:rPr lang="en-US" dirty="0"/>
            </a:br>
            <a:r>
              <a:rPr lang="en-US" dirty="0"/>
              <a:t>• High Blood Pressure</a:t>
            </a:r>
            <a:br>
              <a:rPr lang="en-US" dirty="0"/>
            </a:br>
            <a:r>
              <a:rPr lang="en-US" dirty="0"/>
              <a:t>• Type 2 Diabetes</a:t>
            </a:r>
          </a:p>
          <a:p>
            <a:r>
              <a:rPr lang="en-US" dirty="0"/>
              <a:t>Filtering helps the model:</a:t>
            </a:r>
          </a:p>
          <a:p>
            <a:r>
              <a:rPr lang="en-US" dirty="0"/>
              <a:t>• Focus on relevant diseases</a:t>
            </a:r>
            <a:br>
              <a:rPr lang="en-US" dirty="0"/>
            </a:br>
            <a:r>
              <a:rPr lang="en-US" dirty="0"/>
              <a:t>• Improve prediction accuracy</a:t>
            </a:r>
            <a:br>
              <a:rPr lang="en-US" dirty="0"/>
            </a:br>
            <a:r>
              <a:rPr lang="en-US" dirty="0"/>
              <a:t>• Reduce noise in the dataset</a:t>
            </a:r>
          </a:p>
          <a:p>
            <a:r>
              <a:rPr lang="en-US" dirty="0"/>
              <a:t>This results in a </a:t>
            </a:r>
            <a:r>
              <a:rPr lang="en-US" b="1" dirty="0"/>
              <a:t>balanced and meaningful classification problem.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107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233182" cy="40233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EDA was performed to understand the dataset and identify patterns.</a:t>
            </a:r>
          </a:p>
          <a:p>
            <a:r>
              <a:rPr lang="en-US" dirty="0"/>
              <a:t>Key analysis performed:</a:t>
            </a:r>
          </a:p>
          <a:p>
            <a:r>
              <a:rPr lang="en-US" dirty="0"/>
              <a:t>• Distribution of medical conditions</a:t>
            </a:r>
            <a:br>
              <a:rPr lang="en-US" dirty="0"/>
            </a:br>
            <a:r>
              <a:rPr lang="en-US" dirty="0"/>
              <a:t>• Number of reviews per condition</a:t>
            </a:r>
            <a:br>
              <a:rPr lang="en-US" dirty="0"/>
            </a:br>
            <a:r>
              <a:rPr lang="en-US" dirty="0"/>
              <a:t>• Identification of class imbalance</a:t>
            </a:r>
            <a:br>
              <a:rPr lang="en-US" dirty="0"/>
            </a:br>
            <a:r>
              <a:rPr lang="en-US" dirty="0"/>
              <a:t>• Basic statistics of text reviews</a:t>
            </a:r>
          </a:p>
          <a:p>
            <a:r>
              <a:rPr lang="en-US" dirty="0"/>
              <a:t>Visualization techniques such as </a:t>
            </a:r>
            <a:r>
              <a:rPr lang="en-US" b="1" dirty="0"/>
              <a:t>count plots and histograms</a:t>
            </a:r>
            <a:r>
              <a:rPr lang="en-US" dirty="0"/>
              <a:t> were used to understand the dataset.</a:t>
            </a:r>
          </a:p>
          <a:p>
            <a:r>
              <a:rPr lang="en-US" dirty="0"/>
              <a:t>EDA helps in:</a:t>
            </a:r>
          </a:p>
          <a:p>
            <a:r>
              <a:rPr lang="en-US" dirty="0"/>
              <a:t>• Understanding dataset structure</a:t>
            </a:r>
            <a:br>
              <a:rPr lang="en-US" dirty="0"/>
            </a:br>
            <a:r>
              <a:rPr lang="en-US" dirty="0"/>
              <a:t>• Detecting anomalies</a:t>
            </a:r>
            <a:br>
              <a:rPr lang="en-US" dirty="0"/>
            </a:br>
            <a:r>
              <a:rPr lang="en-US" dirty="0"/>
              <a:t>• Preparing data for machine learning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008" y="1845734"/>
            <a:ext cx="4908306" cy="432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7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Handling Missing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Real-world healthcare datasets often contain incomplete information.</a:t>
            </a:r>
          </a:p>
          <a:p>
            <a:r>
              <a:rPr lang="en-US" dirty="0"/>
              <a:t>Steps taken:</a:t>
            </a:r>
          </a:p>
          <a:p>
            <a:r>
              <a:rPr lang="en-US" dirty="0"/>
              <a:t>• Checked missing values in dataset</a:t>
            </a:r>
            <a:br>
              <a:rPr lang="en-US" dirty="0"/>
            </a:br>
            <a:r>
              <a:rPr lang="en-US" dirty="0"/>
              <a:t>• Removed rows with missing </a:t>
            </a:r>
            <a:r>
              <a:rPr lang="en-US" b="1" dirty="0" err="1"/>
              <a:t>drugName</a:t>
            </a:r>
            <a:r>
              <a:rPr lang="en-US" dirty="0"/>
              <a:t> or </a:t>
            </a:r>
            <a:r>
              <a:rPr lang="en-US" b="1" dirty="0"/>
              <a:t>review</a:t>
            </a:r>
            <a:endParaRPr lang="en-US" dirty="0"/>
          </a:p>
          <a:p>
            <a:r>
              <a:rPr lang="en-US" dirty="0"/>
              <a:t>Code used:</a:t>
            </a:r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df.dropna</a:t>
            </a:r>
            <a:r>
              <a:rPr lang="en-IN" dirty="0"/>
              <a:t>(subset=['review','</a:t>
            </a:r>
            <a:r>
              <a:rPr lang="en-IN" dirty="0" err="1"/>
              <a:t>drugName</a:t>
            </a:r>
            <a:r>
              <a:rPr lang="en-IN" dirty="0" smtClean="0"/>
              <a:t>'])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Benefits</a:t>
            </a:r>
            <a:r>
              <a:rPr lang="en-US" dirty="0"/>
              <a:t>:</a:t>
            </a:r>
          </a:p>
          <a:p>
            <a:r>
              <a:rPr lang="en-US" dirty="0"/>
              <a:t>• Ensures data quality</a:t>
            </a:r>
            <a:br>
              <a:rPr lang="en-US" dirty="0"/>
            </a:br>
            <a:r>
              <a:rPr lang="en-US" dirty="0"/>
              <a:t>• Prevents errors during training</a:t>
            </a:r>
            <a:br>
              <a:rPr lang="en-US" dirty="0"/>
            </a:br>
            <a:r>
              <a:rPr lang="en-US" dirty="0"/>
              <a:t>• Improves model reliability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5992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 Cleaning (NLP </a:t>
            </a:r>
            <a:r>
              <a:rPr lang="en-IN" dirty="0" err="1"/>
              <a:t>Preprocessing</a:t>
            </a:r>
            <a:r>
              <a:rPr lang="en-IN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Patient reviews contain </a:t>
            </a:r>
            <a:r>
              <a:rPr lang="en-US" b="1" dirty="0"/>
              <a:t>unstructured text</a:t>
            </a:r>
            <a:r>
              <a:rPr lang="en-US" dirty="0"/>
              <a:t>, so preprocessing is required.</a:t>
            </a:r>
          </a:p>
          <a:p>
            <a:r>
              <a:rPr lang="en-US" dirty="0"/>
              <a:t>The following steps were applied:</a:t>
            </a:r>
          </a:p>
          <a:p>
            <a:r>
              <a:rPr lang="en-US" dirty="0"/>
              <a:t>• Convert text to lowercase</a:t>
            </a:r>
            <a:br>
              <a:rPr lang="en-US" dirty="0"/>
            </a:br>
            <a:r>
              <a:rPr lang="en-US" dirty="0"/>
              <a:t>• Remove punctuation and special characters</a:t>
            </a:r>
            <a:br>
              <a:rPr lang="en-US" dirty="0"/>
            </a:br>
            <a:r>
              <a:rPr lang="en-US" dirty="0"/>
              <a:t>• Remove stop words (common words like “the”, “is”, “and”)</a:t>
            </a:r>
            <a:br>
              <a:rPr lang="en-US" dirty="0"/>
            </a:br>
            <a:r>
              <a:rPr lang="en-US" dirty="0"/>
              <a:t>• Apply </a:t>
            </a:r>
            <a:r>
              <a:rPr lang="en-US" b="1" dirty="0"/>
              <a:t>lemmatization</a:t>
            </a:r>
            <a:r>
              <a:rPr lang="en-US" dirty="0"/>
              <a:t> to convert words to root form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"These tablets were helping me a lot"</a:t>
            </a:r>
          </a:p>
          <a:p>
            <a:r>
              <a:rPr lang="en-US" dirty="0"/>
              <a:t>becomes</a:t>
            </a:r>
          </a:p>
          <a:p>
            <a:r>
              <a:rPr lang="en-US" dirty="0"/>
              <a:t>"tablet help lot"</a:t>
            </a:r>
          </a:p>
          <a:p>
            <a:r>
              <a:rPr lang="en-US" dirty="0"/>
              <a:t>This improves </a:t>
            </a:r>
            <a:r>
              <a:rPr lang="en-US" b="1" dirty="0"/>
              <a:t>feature quality for machine learning models.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764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Review Length Analysis</a:t>
            </a:r>
            <a:r>
              <a:rPr lang="en-US" dirty="0" smtClean="0"/>
              <a:t>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6393766" cy="4023360"/>
          </a:xfrm>
        </p:spPr>
        <p:txBody>
          <a:bodyPr/>
          <a:lstStyle/>
          <a:p>
            <a:r>
              <a:rPr lang="en-US" dirty="0"/>
              <a:t>Review length analysis was performed to understand how detailed patient reviews are.</a:t>
            </a:r>
          </a:p>
          <a:p>
            <a:r>
              <a:rPr lang="en-US" dirty="0"/>
              <a:t>A histogram was created showing:</a:t>
            </a:r>
          </a:p>
          <a:p>
            <a:r>
              <a:rPr lang="en-US" b="1" dirty="0"/>
              <a:t>Number of words per review</a:t>
            </a:r>
            <a:endParaRPr lang="en-US" dirty="0"/>
          </a:p>
          <a:p>
            <a:r>
              <a:rPr lang="en-US" dirty="0"/>
              <a:t>Insights gained:</a:t>
            </a:r>
          </a:p>
          <a:p>
            <a:r>
              <a:rPr lang="en-US" dirty="0"/>
              <a:t>• Most reviews contain </a:t>
            </a:r>
            <a:r>
              <a:rPr lang="en-US" b="1" dirty="0"/>
              <a:t>short to medium length text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Extremely long reviews are rare</a:t>
            </a:r>
            <a:br>
              <a:rPr lang="en-US" dirty="0"/>
            </a:br>
            <a:r>
              <a:rPr lang="en-US" dirty="0"/>
              <a:t>• Text length distribution helps understand dataset complexity</a:t>
            </a:r>
          </a:p>
          <a:p>
            <a:r>
              <a:rPr lang="en-US" dirty="0"/>
              <a:t>This analysis helps determine how much information is available for prediction.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377" y="2144819"/>
            <a:ext cx="4455136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785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models cannot process text directly.</a:t>
            </a:r>
          </a:p>
          <a:p>
            <a:r>
              <a:rPr lang="en-US" dirty="0"/>
              <a:t>Therefore text was converted into numerical features.</a:t>
            </a:r>
          </a:p>
          <a:p>
            <a:r>
              <a:rPr lang="en-US" dirty="0"/>
              <a:t>Two features were combined:</a:t>
            </a:r>
          </a:p>
          <a:p>
            <a:r>
              <a:rPr lang="en-IN" dirty="0" err="1"/>
              <a:t>combined_text</a:t>
            </a:r>
            <a:r>
              <a:rPr lang="en-IN" dirty="0"/>
              <a:t> = </a:t>
            </a:r>
            <a:r>
              <a:rPr lang="en-IN" dirty="0" err="1"/>
              <a:t>drugName</a:t>
            </a:r>
            <a:r>
              <a:rPr lang="en-IN" dirty="0"/>
              <a:t> + </a:t>
            </a:r>
            <a:r>
              <a:rPr lang="en-IN" dirty="0" smtClean="0"/>
              <a:t>review</a:t>
            </a:r>
          </a:p>
          <a:p>
            <a:r>
              <a:rPr lang="en-US" dirty="0"/>
              <a:t>This helps the model understand both:</a:t>
            </a:r>
          </a:p>
          <a:p>
            <a:r>
              <a:rPr lang="en-US" dirty="0"/>
              <a:t>• Medicine name</a:t>
            </a:r>
            <a:br>
              <a:rPr lang="en-US" dirty="0"/>
            </a:br>
            <a:r>
              <a:rPr lang="en-US" dirty="0"/>
              <a:t>• Patient experience with the drug</a:t>
            </a:r>
          </a:p>
          <a:p>
            <a:r>
              <a:rPr lang="en-US" dirty="0"/>
              <a:t>Combining both improves </a:t>
            </a:r>
            <a:r>
              <a:rPr lang="en-US" b="1" dirty="0"/>
              <a:t>prediction capability.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9495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Label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target variable </a:t>
            </a:r>
            <a:r>
              <a:rPr lang="en-US" b="1" dirty="0"/>
              <a:t>condition</a:t>
            </a:r>
            <a:r>
              <a:rPr lang="en-US" dirty="0"/>
              <a:t> is categorical.</a:t>
            </a:r>
          </a:p>
          <a:p>
            <a:r>
              <a:rPr lang="en-US" dirty="0"/>
              <a:t>Machine learning models require numerical labels.</a:t>
            </a:r>
          </a:p>
          <a:p>
            <a:r>
              <a:rPr lang="en-US" dirty="0"/>
              <a:t>Therefore </a:t>
            </a:r>
            <a:r>
              <a:rPr lang="en-US" b="1" dirty="0"/>
              <a:t>Label Encoding</a:t>
            </a:r>
            <a:r>
              <a:rPr lang="en-US" dirty="0"/>
              <a:t> was used.</a:t>
            </a:r>
          </a:p>
          <a:p>
            <a:r>
              <a:rPr lang="en-US" dirty="0"/>
              <a:t>Example conversion:</a:t>
            </a:r>
          </a:p>
          <a:p>
            <a:r>
              <a:rPr lang="en-US" dirty="0"/>
              <a:t>Depression → 0</a:t>
            </a:r>
            <a:br>
              <a:rPr lang="en-US" dirty="0"/>
            </a:br>
            <a:r>
              <a:rPr lang="en-US" dirty="0"/>
              <a:t>High Blood Pressure → 1</a:t>
            </a:r>
            <a:br>
              <a:rPr lang="en-US" dirty="0"/>
            </a:br>
            <a:r>
              <a:rPr lang="en-US" dirty="0"/>
              <a:t>Type 2 Diabetes → 2</a:t>
            </a:r>
          </a:p>
          <a:p>
            <a:r>
              <a:rPr lang="en-US" dirty="0"/>
              <a:t>This allows the model to </a:t>
            </a:r>
            <a:r>
              <a:rPr lang="en-US" b="1" dirty="0"/>
              <a:t>learn patterns between text and medical condition.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3906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 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was divided into two parts:</a:t>
            </a:r>
          </a:p>
          <a:p>
            <a:r>
              <a:rPr lang="en-US" b="1" dirty="0"/>
              <a:t>Training Data – 80%</a:t>
            </a:r>
            <a:endParaRPr lang="en-US" dirty="0"/>
          </a:p>
          <a:p>
            <a:r>
              <a:rPr lang="en-US" dirty="0"/>
              <a:t>Used to train the machine learning models.</a:t>
            </a:r>
          </a:p>
          <a:p>
            <a:r>
              <a:rPr lang="en-US" b="1" dirty="0"/>
              <a:t>Testing Data – 20%</a:t>
            </a:r>
            <a:endParaRPr lang="en-US" dirty="0"/>
          </a:p>
          <a:p>
            <a:r>
              <a:rPr lang="en-US" dirty="0"/>
              <a:t>Used to evaluate how well the model performs on unseen data.</a:t>
            </a:r>
          </a:p>
          <a:p>
            <a:r>
              <a:rPr lang="en-US" dirty="0"/>
              <a:t>Code used:</a:t>
            </a:r>
          </a:p>
          <a:p>
            <a:r>
              <a:rPr lang="en-IN" dirty="0" err="1" smtClean="0"/>
              <a:t>train_test_split</a:t>
            </a:r>
            <a:r>
              <a:rPr lang="en-IN" dirty="0" smtClean="0"/>
              <a:t>(</a:t>
            </a:r>
            <a:r>
              <a:rPr lang="en-IN" dirty="0" err="1" smtClean="0"/>
              <a:t>test_size</a:t>
            </a:r>
            <a:r>
              <a:rPr lang="en-IN" dirty="0" smtClean="0"/>
              <a:t>=0.2</a:t>
            </a:r>
            <a:r>
              <a:rPr lang="en-IN" dirty="0"/>
              <a:t>, stratify=</a:t>
            </a:r>
            <a:r>
              <a:rPr lang="en-IN" dirty="0" err="1"/>
              <a:t>df</a:t>
            </a:r>
            <a:r>
              <a:rPr lang="en-IN" dirty="0"/>
              <a:t>['label</a:t>
            </a:r>
            <a:r>
              <a:rPr lang="en-IN" dirty="0" smtClean="0"/>
              <a:t>'])</a:t>
            </a:r>
          </a:p>
          <a:p>
            <a:r>
              <a:rPr lang="en-US" dirty="0"/>
              <a:t>Stratification ensures that </a:t>
            </a:r>
            <a:r>
              <a:rPr lang="en-US" b="1" dirty="0"/>
              <a:t>each class is equally represented in both datasets.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98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TF-IDF Vectorization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data was converted into numerical vectors using </a:t>
            </a:r>
            <a:r>
              <a:rPr lang="en-US" b="1" dirty="0"/>
              <a:t>TF-IDF (Term Frequency – Inverse Document Frequency).</a:t>
            </a:r>
            <a:endParaRPr lang="en-US" dirty="0"/>
          </a:p>
          <a:p>
            <a:r>
              <a:rPr lang="en-US" dirty="0"/>
              <a:t>TF-IDF measures how important a word is in a document relative to the entire dataset.</a:t>
            </a:r>
          </a:p>
          <a:p>
            <a:r>
              <a:rPr lang="en-US" dirty="0"/>
              <a:t>Configuration used:</a:t>
            </a:r>
          </a:p>
          <a:p>
            <a:r>
              <a:rPr lang="en-US" dirty="0"/>
              <a:t>• Maximum features: 15000</a:t>
            </a:r>
            <a:br>
              <a:rPr lang="en-US" dirty="0"/>
            </a:br>
            <a:r>
              <a:rPr lang="en-US" dirty="0"/>
              <a:t>• N-gram range: (1,2)</a:t>
            </a:r>
            <a:br>
              <a:rPr lang="en-US" dirty="0"/>
            </a:br>
            <a:r>
              <a:rPr lang="en-US" dirty="0"/>
              <a:t>• Minimum document frequency: 2</a:t>
            </a:r>
          </a:p>
          <a:p>
            <a:r>
              <a:rPr lang="en-US" dirty="0"/>
              <a:t>Advantages:</a:t>
            </a:r>
          </a:p>
          <a:p>
            <a:r>
              <a:rPr lang="en-US" dirty="0"/>
              <a:t>• Captures important keywords</a:t>
            </a:r>
            <a:br>
              <a:rPr lang="en-US" dirty="0"/>
            </a:br>
            <a:r>
              <a:rPr lang="en-US" dirty="0"/>
              <a:t>• Reduces importance of very common words</a:t>
            </a:r>
            <a:br>
              <a:rPr lang="en-US" dirty="0"/>
            </a:br>
            <a:r>
              <a:rPr lang="en-US" dirty="0"/>
              <a:t>• Improves classification performance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719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Three machine learning models were trained and compared.</a:t>
            </a:r>
          </a:p>
          <a:p>
            <a:r>
              <a:rPr lang="en-US" b="1" dirty="0"/>
              <a:t>Logistic Regression</a:t>
            </a:r>
          </a:p>
          <a:p>
            <a:r>
              <a:rPr lang="en-US" dirty="0"/>
              <a:t>• Simple linear classification model</a:t>
            </a:r>
            <a:br>
              <a:rPr lang="en-US" dirty="0"/>
            </a:br>
            <a:r>
              <a:rPr lang="en-US" dirty="0"/>
              <a:t>• Works well with high-dimensional data</a:t>
            </a:r>
          </a:p>
          <a:p>
            <a:r>
              <a:rPr lang="en-US" b="1" dirty="0"/>
              <a:t>Multinomial Naive Bayes</a:t>
            </a:r>
          </a:p>
          <a:p>
            <a:r>
              <a:rPr lang="en-US" dirty="0"/>
              <a:t>• Very effective for text classification</a:t>
            </a:r>
            <a:br>
              <a:rPr lang="en-US" dirty="0"/>
            </a:br>
            <a:r>
              <a:rPr lang="en-US" dirty="0"/>
              <a:t>• Fast training and prediction</a:t>
            </a:r>
          </a:p>
          <a:p>
            <a:r>
              <a:rPr lang="en-US" b="1" dirty="0"/>
              <a:t>Linear Support Vector Machine (SVM)</a:t>
            </a:r>
          </a:p>
          <a:p>
            <a:r>
              <a:rPr lang="en-US" dirty="0"/>
              <a:t>• Powerful classifier for text data</a:t>
            </a:r>
            <a:br>
              <a:rPr lang="en-US" dirty="0"/>
            </a:br>
            <a:r>
              <a:rPr lang="en-US" dirty="0"/>
              <a:t>• Handles high dimensional feature space efficiently</a:t>
            </a:r>
          </a:p>
          <a:p>
            <a:r>
              <a:rPr lang="en-US" dirty="0"/>
              <a:t>Each model was trained using </a:t>
            </a:r>
            <a:r>
              <a:rPr lang="en-US" b="1" dirty="0"/>
              <a:t>TF-IDF features.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758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Accuracy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After training all models, their accuracy was compared.</a:t>
            </a:r>
          </a:p>
          <a:p>
            <a:r>
              <a:rPr lang="en-US" dirty="0" smtClean="0"/>
              <a:t>Model comparison table: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The </a:t>
            </a:r>
            <a:r>
              <a:rPr lang="en-US" b="1" dirty="0"/>
              <a:t>Linear Support Vector Machine achieved the best performance</a:t>
            </a:r>
            <a:r>
              <a:rPr lang="en-US" dirty="0"/>
              <a:t>, so it was selected as the final model.</a:t>
            </a:r>
          </a:p>
          <a:p>
            <a:endParaRPr lang="en-US" dirty="0" smtClean="0"/>
          </a:p>
          <a:p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21280"/>
              </p:ext>
            </p:extLst>
          </p:nvPr>
        </p:nvGraphicFramePr>
        <p:xfrm>
          <a:off x="1097280" y="275948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3302213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90399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Accuracy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160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Logistic Regression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Moderate - </a:t>
                      </a: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0.976694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233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Naive Bayes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Moderate - </a:t>
                      </a: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0.958049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646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Linear SVM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Highest - </a:t>
                      </a: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0.993905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769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5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118882" cy="4023360"/>
          </a:xfrm>
        </p:spPr>
        <p:txBody>
          <a:bodyPr/>
          <a:lstStyle/>
          <a:p>
            <a:r>
              <a:rPr lang="en-US" dirty="0"/>
              <a:t>The final model was evaluated using:</a:t>
            </a:r>
          </a:p>
          <a:p>
            <a:r>
              <a:rPr lang="en-US" b="1" dirty="0"/>
              <a:t>Accuracy Score</a:t>
            </a:r>
            <a:endParaRPr lang="en-US" dirty="0"/>
          </a:p>
          <a:p>
            <a:r>
              <a:rPr lang="en-US" dirty="0"/>
              <a:t>Measures overall correctness.</a:t>
            </a:r>
          </a:p>
          <a:p>
            <a:r>
              <a:rPr lang="en-US" b="1" dirty="0"/>
              <a:t>Classification Report</a:t>
            </a:r>
            <a:endParaRPr lang="en-US" dirty="0"/>
          </a:p>
          <a:p>
            <a:r>
              <a:rPr lang="en-US" dirty="0"/>
              <a:t>Includes:</a:t>
            </a:r>
          </a:p>
          <a:p>
            <a:r>
              <a:rPr lang="en-US" dirty="0"/>
              <a:t>• Precision</a:t>
            </a:r>
            <a:br>
              <a:rPr lang="en-US" dirty="0"/>
            </a:br>
            <a:r>
              <a:rPr lang="en-US" dirty="0"/>
              <a:t>• Recall</a:t>
            </a:r>
            <a:br>
              <a:rPr lang="en-US" dirty="0"/>
            </a:br>
            <a:r>
              <a:rPr lang="en-US" dirty="0"/>
              <a:t>• F1-Score</a:t>
            </a:r>
          </a:p>
          <a:p>
            <a:r>
              <a:rPr lang="en-US" dirty="0"/>
              <a:t>These metrics help evaluate how well the model predicts each medical condition.</a:t>
            </a:r>
          </a:p>
          <a:p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941238"/>
              </p:ext>
            </p:extLst>
          </p:nvPr>
        </p:nvGraphicFramePr>
        <p:xfrm>
          <a:off x="6710680" y="1845734"/>
          <a:ext cx="4445000" cy="391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1305609327"/>
                    </a:ext>
                  </a:extLst>
                </a:gridCol>
                <a:gridCol w="955235">
                  <a:extLst>
                    <a:ext uri="{9D8B030D-6E8A-4147-A177-3AD203B41FA5}">
                      <a16:colId xmlns:a16="http://schemas.microsoft.com/office/drawing/2014/main" val="1621621471"/>
                    </a:ext>
                  </a:extLst>
                </a:gridCol>
                <a:gridCol w="822765">
                  <a:extLst>
                    <a:ext uri="{9D8B030D-6E8A-4147-A177-3AD203B41FA5}">
                      <a16:colId xmlns:a16="http://schemas.microsoft.com/office/drawing/2014/main" val="6940698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214791207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5836485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precision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recall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f1-score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754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Depression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1814</a:t>
                      </a:r>
                      <a:endParaRPr lang="en-IN" sz="1400" dirty="0" smtClean="0"/>
                    </a:p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969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Diabetes, Type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511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65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Blood Pressure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464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740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117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accuracy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2789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104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macro avg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IN" sz="1400" dirty="0" smtClean="0"/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IN" sz="1400" dirty="0" smtClean="0"/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2789</a:t>
                      </a:r>
                      <a:endParaRPr lang="en-IN" sz="1400" dirty="0" smtClean="0"/>
                    </a:p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850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weighted avg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IN" sz="1400" dirty="0" smtClean="0"/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IN" sz="1400" dirty="0" smtClean="0"/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IN" sz="1400" dirty="0" smtClean="0"/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2789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221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050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confusion matrix</a:t>
            </a:r>
            <a:r>
              <a:rPr lang="en-US" dirty="0"/>
              <a:t> was generated to analyze prediction performance.</a:t>
            </a:r>
          </a:p>
          <a:p>
            <a:r>
              <a:rPr lang="en-US" dirty="0"/>
              <a:t>It shows:</a:t>
            </a:r>
          </a:p>
          <a:p>
            <a:r>
              <a:rPr lang="en-US" dirty="0"/>
              <a:t>• Correct predictions</a:t>
            </a:r>
            <a:br>
              <a:rPr lang="en-US" dirty="0"/>
            </a:br>
            <a:r>
              <a:rPr lang="en-US" dirty="0"/>
              <a:t>• Misclassifications between diseases</a:t>
            </a:r>
          </a:p>
          <a:p>
            <a:r>
              <a:rPr lang="en-US" dirty="0"/>
              <a:t>This helps identify:</a:t>
            </a:r>
          </a:p>
          <a:p>
            <a:r>
              <a:rPr lang="en-US" dirty="0"/>
              <a:t>• Which diseases are easier to predict</a:t>
            </a:r>
            <a:br>
              <a:rPr lang="en-US" dirty="0"/>
            </a:br>
            <a:r>
              <a:rPr lang="en-US" dirty="0"/>
              <a:t>• Which classes are sometimes confused</a:t>
            </a:r>
          </a:p>
          <a:p>
            <a:r>
              <a:rPr lang="en-US" dirty="0"/>
              <a:t>Visualization was created using </a:t>
            </a:r>
            <a:r>
              <a:rPr lang="en-US" b="1" dirty="0" err="1"/>
              <a:t>Seaborn</a:t>
            </a:r>
            <a:r>
              <a:rPr lang="en-US" b="1" dirty="0"/>
              <a:t> </a:t>
            </a:r>
            <a:r>
              <a:rPr lang="en-US" b="1" dirty="0" err="1"/>
              <a:t>heatmap</a:t>
            </a:r>
            <a:r>
              <a:rPr lang="en-US" b="1" dirty="0"/>
              <a:t>.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1" y="2273690"/>
            <a:ext cx="4423996" cy="386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0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 Page: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1846263"/>
            <a:ext cx="8141677" cy="4255599"/>
          </a:xfrm>
        </p:spPr>
      </p:pic>
    </p:spTree>
    <p:extLst>
      <p:ext uri="{BB962C8B-B14F-4D97-AF65-F5344CB8AC3E}">
        <p14:creationId xmlns:p14="http://schemas.microsoft.com/office/powerpoint/2010/main" val="93274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Faced During the Project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Several challenges were encountered during development:</a:t>
            </a:r>
          </a:p>
          <a:p>
            <a:r>
              <a:rPr lang="en-US" dirty="0"/>
              <a:t>• Handling large amounts of unstructured text data</a:t>
            </a:r>
            <a:br>
              <a:rPr lang="en-US" dirty="0"/>
            </a:br>
            <a:r>
              <a:rPr lang="en-US" dirty="0"/>
              <a:t>• Cleaning patient reviews containing noisy information</a:t>
            </a:r>
            <a:br>
              <a:rPr lang="en-US" dirty="0"/>
            </a:br>
            <a:r>
              <a:rPr lang="en-US" dirty="0"/>
              <a:t>• Selecting appropriate NLP preprocessing techniques</a:t>
            </a:r>
            <a:br>
              <a:rPr lang="en-US" dirty="0"/>
            </a:br>
            <a:r>
              <a:rPr lang="en-US" dirty="0"/>
              <a:t>• Choosing the best machine learning algorithm</a:t>
            </a:r>
            <a:br>
              <a:rPr lang="en-US" dirty="0"/>
            </a:br>
            <a:r>
              <a:rPr lang="en-US" dirty="0"/>
              <a:t>• Balancing prediction accuracy across diseases</a:t>
            </a:r>
          </a:p>
          <a:p>
            <a:r>
              <a:rPr lang="en-US" dirty="0"/>
              <a:t>These challenges were addressed through:</a:t>
            </a:r>
          </a:p>
          <a:p>
            <a:r>
              <a:rPr lang="en-US" dirty="0" smtClean="0"/>
              <a:t>• </a:t>
            </a:r>
            <a:r>
              <a:rPr lang="en-US" dirty="0"/>
              <a:t>Text preprocessing</a:t>
            </a:r>
            <a:br>
              <a:rPr lang="en-US" dirty="0"/>
            </a:br>
            <a:r>
              <a:rPr lang="en-US" dirty="0" smtClean="0"/>
              <a:t>• </a:t>
            </a:r>
            <a:r>
              <a:rPr lang="en-US" dirty="0"/>
              <a:t>Feature engineering</a:t>
            </a:r>
            <a:br>
              <a:rPr lang="en-US" dirty="0"/>
            </a:br>
            <a:r>
              <a:rPr lang="en-US" dirty="0" smtClean="0"/>
              <a:t>• Comparing </a:t>
            </a:r>
            <a:r>
              <a:rPr lang="en-US" dirty="0"/>
              <a:t>multiple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6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2449" y="2233245"/>
            <a:ext cx="10058400" cy="2413717"/>
          </a:xfrm>
        </p:spPr>
        <p:txBody>
          <a:bodyPr/>
          <a:lstStyle/>
          <a:p>
            <a:r>
              <a:rPr lang="en-US" b="1" dirty="0"/>
              <a:t>Thank You</a:t>
            </a:r>
            <a:endParaRPr lang="en-US" dirty="0"/>
          </a:p>
          <a:p>
            <a:r>
              <a:rPr lang="en-US" dirty="0"/>
              <a:t>We would like to express our sincere gratitude to:</a:t>
            </a:r>
          </a:p>
          <a:p>
            <a:r>
              <a:rPr lang="en-US" b="1" dirty="0" smtClean="0"/>
              <a:t>Faculty at </a:t>
            </a:r>
            <a:r>
              <a:rPr lang="en-US" b="1" dirty="0" err="1" smtClean="0"/>
              <a:t>Excelr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for guidance and continuous support during the project.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303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101</TotalTime>
  <Words>1216</Words>
  <Application>Microsoft Office PowerPoint</Application>
  <PresentationFormat>Widescreen</PresentationFormat>
  <Paragraphs>174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Calibri</vt:lpstr>
      <vt:lpstr>Calibri Light</vt:lpstr>
      <vt:lpstr>Retrospect</vt:lpstr>
      <vt:lpstr>Patient condition Classification System Using Machine Learning and NLP</vt:lpstr>
      <vt:lpstr>Drug Prediction System Using Machine Learning and NLP </vt:lpstr>
      <vt:lpstr>OBJECTIVE</vt:lpstr>
      <vt:lpstr>DATASET DETAILS</vt:lpstr>
      <vt:lpstr>Filtered Medical Conditions</vt:lpstr>
      <vt:lpstr>Exploratory Data Analysis (EDA)</vt:lpstr>
      <vt:lpstr>Handling Missing Data</vt:lpstr>
      <vt:lpstr>Text Cleaning (NLP Preprocessing)</vt:lpstr>
      <vt:lpstr>Review Length Analysis </vt:lpstr>
      <vt:lpstr>Feature Engineering</vt:lpstr>
      <vt:lpstr>Label Encoding</vt:lpstr>
      <vt:lpstr>Train Test Split</vt:lpstr>
      <vt:lpstr>TF-IDF Vectorization</vt:lpstr>
      <vt:lpstr>Model Building</vt:lpstr>
      <vt:lpstr>Accuracy Comparison</vt:lpstr>
      <vt:lpstr>Model Evaluation</vt:lpstr>
      <vt:lpstr>Confusion Matrix</vt:lpstr>
      <vt:lpstr>App Page:</vt:lpstr>
      <vt:lpstr>Challenges Faced During the Project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Prediction</dc:title>
  <dc:creator>rahul mhapankar</dc:creator>
  <cp:lastModifiedBy>rahul mhapankar</cp:lastModifiedBy>
  <cp:revision>11</cp:revision>
  <dcterms:created xsi:type="dcterms:W3CDTF">2026-03-07T08:53:42Z</dcterms:created>
  <dcterms:modified xsi:type="dcterms:W3CDTF">2026-03-09T13:41:40Z</dcterms:modified>
</cp:coreProperties>
</file>